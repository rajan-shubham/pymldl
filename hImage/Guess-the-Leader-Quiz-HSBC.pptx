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 — Understanding context (product, risk, stakeholders, value) beats raw output early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 — Speed still needs controls + transparency in a regulated environment.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 — Real ownership means bringing options, a recommendation, and the trade-offs.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 — Reconfirm outcomes/dependencies and re-plan out loud, visibly.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 — Communication, clear status updates, and risk thinking compound fastest.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 — Data classification, security controls, and model governance are non-negotiable.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 — Crisp, outcome-tied questions that show what you've already tried.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 — Blameless learning, clear accountability, and strong engineering discipline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6.xml"/><Relationship Id="rId9" Type="http://schemas.openxmlformats.org/officeDocument/2006/relationships/slide" Target="slide7.xml"/><Relationship Id="rId10" Type="http://schemas.openxmlformats.org/officeDocument/2006/relationships/slide" Target="slide7.xml"/><Relationship Id="rId11" Type="http://schemas.openxmlformats.org/officeDocument/2006/relationships/slide" Target="slide8.xml"/><Relationship Id="rId12" Type="http://schemas.openxmlformats.org/officeDocument/2006/relationships/slide" Target="slide8.xml"/><Relationship Id="rId13" Type="http://schemas.openxmlformats.org/officeDocument/2006/relationships/slide" Target="slide9.xml"/><Relationship Id="rId14" Type="http://schemas.openxmlformats.org/officeDocument/2006/relationships/slide" Target="slide9.xml"/><Relationship Id="rId15" Type="http://schemas.openxmlformats.org/officeDocument/2006/relationships/slide" Target="slide10.xml"/><Relationship Id="rId16" Type="http://schemas.openxmlformats.org/officeDocument/2006/relationships/slide" Target="slide10.xml"/><Relationship Id="rId17" Type="http://schemas.openxmlformats.org/officeDocument/2006/relationships/slide" Target="slide11.xml"/><Relationship Id="rId18" Type="http://schemas.openxmlformats.org/officeDocument/2006/relationships/slide" Target="slide11.xml"/><Relationship Id="rId19" Type="http://schemas.openxmlformats.org/officeDocument/2006/relationships/slide" Target="slide12.xml"/><Relationship Id="rId20" Type="http://schemas.openxmlformats.org/officeDocument/2006/relationships/slide" Target="slide12.xml"/><Relationship Id="rId21" Type="http://schemas.openxmlformats.org/officeDocument/2006/relationships/slide" Target="slide13.xml"/><Relationship Id="rId22" Type="http://schemas.openxmlformats.org/officeDocument/2006/relationships/slide" Target="slide13.xml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79992" y="-2103120"/>
            <a:ext cx="4937760" cy="4937760"/>
          </a:xfrm>
          <a:prstGeom prst="ellipse">
            <a:avLst/>
          </a:prstGeom>
          <a:solidFill>
            <a:srgbClr val="DB0011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468880" y="4206240"/>
            <a:ext cx="4389120" cy="4389120"/>
          </a:xfrm>
          <a:prstGeom prst="ellipse">
            <a:avLst/>
          </a:prstGeom>
          <a:solidFill>
            <a:srgbClr val="1A1A1A">
              <a:alpha val="4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60152" y="320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HSBC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85716" y="1051560"/>
            <a:ext cx="3017520" cy="457200"/>
          </a:xfrm>
          <a:prstGeom prst="roundRect">
            <a:avLst>
              <a:gd name="adj" fmla="val 50000"/>
            </a:avLst>
          </a:prstGeom>
          <a:solidFill>
            <a:srgbClr val="FCE9E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85716" y="1051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GRAD MEET  •  LIVE QUIZ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0" y="1737360"/>
            <a:ext cx="1218895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GUESS THE</a:t>
            </a:r>
            <a:endParaRPr lang="en-US" sz="6000" dirty="0"/>
          </a:p>
          <a:p>
            <a:pPr algn="ctr" indent="0" marL="0">
              <a:buNone/>
            </a:pPr>
            <a:r>
              <a:rPr lang="en-US" sz="60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0" y="397764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George's Origin Story — Live Quiz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0" y="44805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around, play along, and may the smartest squad win 🍫</a:t>
            </a:r>
            <a:endParaRPr lang="en-US" sz="1400" dirty="0"/>
          </a:p>
        </p:txBody>
      </p:sp>
      <p:sp>
        <p:nvSpPr>
          <p:cNvPr id="10" name="Shape 8">
            <a:hlinkClick r:id="rId1" tooltip="Start" action="ppaction://hlinksldjump"/>
          </p:cNvPr>
          <p:cNvSpPr/>
          <p:nvPr/>
        </p:nvSpPr>
        <p:spPr>
          <a:xfrm>
            <a:off x="4905756" y="5303520"/>
            <a:ext cx="2377440" cy="502920"/>
          </a:xfrm>
          <a:prstGeom prst="roundRect">
            <a:avLst>
              <a:gd name="adj" fmla="val 50000"/>
            </a:avLst>
          </a:prstGeom>
          <a:solidFill>
            <a:srgbClr val="DB0011"/>
          </a:solidFill>
          <a:ln/>
        </p:spPr>
      </p:sp>
      <p:sp>
        <p:nvSpPr>
          <p:cNvPr id="11" name="Text 9">
            <a:hlinkClick r:id="rId2" tooltip="Start" action="ppaction://hlinksldjump"/>
          </p:cNvPr>
          <p:cNvSpPr txBox="1"/>
          <p:nvPr/>
        </p:nvSpPr>
        <p:spPr>
          <a:xfrm>
            <a:off x="4905756" y="5303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Star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👉 Tap to Start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79992" y="-2103120"/>
            <a:ext cx="4937760" cy="4937760"/>
          </a:xfrm>
          <a:prstGeom prst="ellipse">
            <a:avLst/>
          </a:prstGeom>
          <a:solidFill>
            <a:srgbClr val="DB0011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468880" y="4206240"/>
            <a:ext cx="4389120" cy="4389120"/>
          </a:xfrm>
          <a:prstGeom prst="ellipse">
            <a:avLst/>
          </a:prstGeom>
          <a:solidFill>
            <a:srgbClr val="1A1A1A">
              <a:alpha val="4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60152" y="320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HSBC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148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YOUR PATH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515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any tile to jump straight there — no scrolling needed 👇</a:t>
            </a:r>
            <a:endParaRPr lang="en-US" sz="1350" dirty="0"/>
          </a:p>
        </p:txBody>
      </p:sp>
      <p:sp>
        <p:nvSpPr>
          <p:cNvPr id="7" name="Shape 5">
            <a:hlinkClick r:id="rId1" tooltip="📜 Rules" action="ppaction://hlinksldjump"/>
          </p:cNvPr>
          <p:cNvSpPr/>
          <p:nvPr/>
        </p:nvSpPr>
        <p:spPr>
          <a:xfrm>
            <a:off x="548640" y="1783080"/>
            <a:ext cx="2567178" cy="1234440"/>
          </a:xfrm>
          <a:prstGeom prst="roundRect">
            <a:avLst>
              <a:gd name="adj" fmla="val 10370"/>
            </a:avLst>
          </a:prstGeom>
          <a:solidFill>
            <a:srgbClr val="FCE9EA"/>
          </a:solidFill>
          <a:ln w="19050">
            <a:solidFill>
              <a:srgbClr val="DB001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>
            <a:hlinkClick r:id="rId2" tooltip="📜 Rules" action="ppaction://hlinksldjump"/>
          </p:cNvPr>
          <p:cNvSpPr txBox="1"/>
          <p:nvPr/>
        </p:nvSpPr>
        <p:spPr>
          <a:xfrm>
            <a:off x="548640" y="1783080"/>
            <a:ext cx="25671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📜 Rul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📜 Rules</a:t>
            </a:r>
            <a:endParaRPr lang="en-US" sz="1500" dirty="0"/>
          </a:p>
        </p:txBody>
      </p:sp>
      <p:sp>
        <p:nvSpPr>
          <p:cNvPr id="9" name="Shape 7">
            <a:hlinkClick r:id="rId3" tooltip="Q1" action="ppaction://hlinksldjump"/>
          </p:cNvPr>
          <p:cNvSpPr/>
          <p:nvPr/>
        </p:nvSpPr>
        <p:spPr>
          <a:xfrm>
            <a:off x="3390138" y="1783080"/>
            <a:ext cx="2567178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9050">
            <a:solidFill>
              <a:srgbClr val="DB001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>
            <a:hlinkClick r:id="rId4" tooltip="Q1" action="ppaction://hlinksldjump"/>
          </p:cNvPr>
          <p:cNvSpPr txBox="1"/>
          <p:nvPr/>
        </p:nvSpPr>
        <p:spPr>
          <a:xfrm>
            <a:off x="3390138" y="1783080"/>
            <a:ext cx="25671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Q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Q1</a:t>
            </a:r>
            <a:endParaRPr lang="en-US" sz="2200" dirty="0"/>
          </a:p>
        </p:txBody>
      </p:sp>
      <p:sp>
        <p:nvSpPr>
          <p:cNvPr id="11" name="Shape 9">
            <a:hlinkClick r:id="rId5" tooltip="Q2" action="ppaction://hlinksldjump"/>
          </p:cNvPr>
          <p:cNvSpPr/>
          <p:nvPr/>
        </p:nvSpPr>
        <p:spPr>
          <a:xfrm>
            <a:off x="6231636" y="1783080"/>
            <a:ext cx="2567178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9050">
            <a:solidFill>
              <a:srgbClr val="DB001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>
            <a:hlinkClick r:id="rId6" tooltip="Q2" action="ppaction://hlinksldjump"/>
          </p:cNvPr>
          <p:cNvSpPr txBox="1"/>
          <p:nvPr/>
        </p:nvSpPr>
        <p:spPr>
          <a:xfrm>
            <a:off x="6231636" y="1783080"/>
            <a:ext cx="25671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Q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Q2</a:t>
            </a:r>
            <a:endParaRPr lang="en-US" sz="2200" dirty="0"/>
          </a:p>
        </p:txBody>
      </p:sp>
      <p:sp>
        <p:nvSpPr>
          <p:cNvPr id="13" name="Shape 11">
            <a:hlinkClick r:id="rId7" tooltip="Q3" action="ppaction://hlinksldjump"/>
          </p:cNvPr>
          <p:cNvSpPr/>
          <p:nvPr/>
        </p:nvSpPr>
        <p:spPr>
          <a:xfrm>
            <a:off x="9073134" y="1783080"/>
            <a:ext cx="2567178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9050">
            <a:solidFill>
              <a:srgbClr val="DB001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>
            <a:hlinkClick r:id="rId8" tooltip="Q3" action="ppaction://hlinksldjump"/>
          </p:cNvPr>
          <p:cNvSpPr txBox="1"/>
          <p:nvPr/>
        </p:nvSpPr>
        <p:spPr>
          <a:xfrm>
            <a:off x="9073134" y="1783080"/>
            <a:ext cx="25671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action="ppaction://hlinksldjump" tooltip="Q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Q3</a:t>
            </a:r>
            <a:endParaRPr lang="en-US" sz="2200" dirty="0"/>
          </a:p>
        </p:txBody>
      </p:sp>
      <p:sp>
        <p:nvSpPr>
          <p:cNvPr id="15" name="Shape 13">
            <a:hlinkClick r:id="rId9" tooltip="Q4" action="ppaction://hlinksldjump"/>
          </p:cNvPr>
          <p:cNvSpPr/>
          <p:nvPr/>
        </p:nvSpPr>
        <p:spPr>
          <a:xfrm>
            <a:off x="548640" y="3291840"/>
            <a:ext cx="2567178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9050">
            <a:solidFill>
              <a:srgbClr val="DB001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>
            <a:hlinkClick r:id="rId10" tooltip="Q4" action="ppaction://hlinksldjump"/>
          </p:cNvPr>
          <p:cNvSpPr txBox="1"/>
          <p:nvPr/>
        </p:nvSpPr>
        <p:spPr>
          <a:xfrm>
            <a:off x="548640" y="3291840"/>
            <a:ext cx="25671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 action="ppaction://hlinksldjump" tooltip="Q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Q4</a:t>
            </a:r>
            <a:endParaRPr lang="en-US" sz="2200" dirty="0"/>
          </a:p>
        </p:txBody>
      </p:sp>
      <p:sp>
        <p:nvSpPr>
          <p:cNvPr id="17" name="Shape 15">
            <a:hlinkClick r:id="rId11" tooltip="Q5" action="ppaction://hlinksldjump"/>
          </p:cNvPr>
          <p:cNvSpPr/>
          <p:nvPr/>
        </p:nvSpPr>
        <p:spPr>
          <a:xfrm>
            <a:off x="3390138" y="3291840"/>
            <a:ext cx="2567178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9050">
            <a:solidFill>
              <a:srgbClr val="DB001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>
            <a:hlinkClick r:id="rId12" tooltip="Q5" action="ppaction://hlinksldjump"/>
          </p:cNvPr>
          <p:cNvSpPr txBox="1"/>
          <p:nvPr/>
        </p:nvSpPr>
        <p:spPr>
          <a:xfrm>
            <a:off x="3390138" y="3291840"/>
            <a:ext cx="25671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2" action="ppaction://hlinksldjump" tooltip="Q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Q5</a:t>
            </a:r>
            <a:endParaRPr lang="en-US" sz="2200" dirty="0"/>
          </a:p>
        </p:txBody>
      </p:sp>
      <p:sp>
        <p:nvSpPr>
          <p:cNvPr id="19" name="Shape 17">
            <a:hlinkClick r:id="rId13" tooltip="Q6" action="ppaction://hlinksldjump"/>
          </p:cNvPr>
          <p:cNvSpPr/>
          <p:nvPr/>
        </p:nvSpPr>
        <p:spPr>
          <a:xfrm>
            <a:off x="6231636" y="3291840"/>
            <a:ext cx="2567178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9050">
            <a:solidFill>
              <a:srgbClr val="DB001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>
            <a:hlinkClick r:id="rId14" tooltip="Q6" action="ppaction://hlinksldjump"/>
          </p:cNvPr>
          <p:cNvSpPr txBox="1"/>
          <p:nvPr/>
        </p:nvSpPr>
        <p:spPr>
          <a:xfrm>
            <a:off x="6231636" y="3291840"/>
            <a:ext cx="25671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4" action="ppaction://hlinksldjump" tooltip="Q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Q6</a:t>
            </a:r>
            <a:endParaRPr lang="en-US" sz="2200" dirty="0"/>
          </a:p>
        </p:txBody>
      </p:sp>
      <p:sp>
        <p:nvSpPr>
          <p:cNvPr id="21" name="Shape 19">
            <a:hlinkClick r:id="rId15" tooltip="Q7" action="ppaction://hlinksldjump"/>
          </p:cNvPr>
          <p:cNvSpPr/>
          <p:nvPr/>
        </p:nvSpPr>
        <p:spPr>
          <a:xfrm>
            <a:off x="9073134" y="3291840"/>
            <a:ext cx="2567178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9050">
            <a:solidFill>
              <a:srgbClr val="DB001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>
            <a:hlinkClick r:id="rId16" tooltip="Q7" action="ppaction://hlinksldjump"/>
          </p:cNvPr>
          <p:cNvSpPr txBox="1"/>
          <p:nvPr/>
        </p:nvSpPr>
        <p:spPr>
          <a:xfrm>
            <a:off x="9073134" y="3291840"/>
            <a:ext cx="25671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6" action="ppaction://hlinksldjump" tooltip="Q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Q7</a:t>
            </a:r>
            <a:endParaRPr lang="en-US" sz="2200" dirty="0"/>
          </a:p>
        </p:txBody>
      </p:sp>
      <p:sp>
        <p:nvSpPr>
          <p:cNvPr id="23" name="Shape 21">
            <a:hlinkClick r:id="rId17" tooltip="Q8" action="ppaction://hlinksldjump"/>
          </p:cNvPr>
          <p:cNvSpPr/>
          <p:nvPr/>
        </p:nvSpPr>
        <p:spPr>
          <a:xfrm>
            <a:off x="548640" y="4800600"/>
            <a:ext cx="2567178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9050">
            <a:solidFill>
              <a:srgbClr val="DB001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>
            <a:hlinkClick r:id="rId18" tooltip="Q8" action="ppaction://hlinksldjump"/>
          </p:cNvPr>
          <p:cNvSpPr txBox="1"/>
          <p:nvPr/>
        </p:nvSpPr>
        <p:spPr>
          <a:xfrm>
            <a:off x="548640" y="4800600"/>
            <a:ext cx="25671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u="sng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8" action="ppaction://hlinksldjump" tooltip="Q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Q8</a:t>
            </a:r>
            <a:endParaRPr lang="en-US" sz="2200" dirty="0"/>
          </a:p>
        </p:txBody>
      </p:sp>
      <p:sp>
        <p:nvSpPr>
          <p:cNvPr id="25" name="Shape 23">
            <a:hlinkClick r:id="rId19" tooltip="🗓 Agenda" action="ppaction://hlinksldjump"/>
          </p:cNvPr>
          <p:cNvSpPr/>
          <p:nvPr/>
        </p:nvSpPr>
        <p:spPr>
          <a:xfrm>
            <a:off x="3390138" y="4800600"/>
            <a:ext cx="2567178" cy="1234440"/>
          </a:xfrm>
          <a:prstGeom prst="roundRect">
            <a:avLst>
              <a:gd name="adj" fmla="val 10370"/>
            </a:avLst>
          </a:prstGeom>
          <a:solidFill>
            <a:srgbClr val="FCE9EA"/>
          </a:solidFill>
          <a:ln w="19050">
            <a:solidFill>
              <a:srgbClr val="DB001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>
            <a:hlinkClick r:id="rId20" tooltip="🗓 Agenda" action="ppaction://hlinksldjump"/>
          </p:cNvPr>
          <p:cNvSpPr txBox="1"/>
          <p:nvPr/>
        </p:nvSpPr>
        <p:spPr>
          <a:xfrm>
            <a:off x="3390138" y="4800600"/>
            <a:ext cx="25671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0" action="ppaction://hlinksldjump" tooltip="🗓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🗓 Agenda</a:t>
            </a:r>
            <a:endParaRPr lang="en-US" sz="1500" dirty="0"/>
          </a:p>
        </p:txBody>
      </p:sp>
      <p:sp>
        <p:nvSpPr>
          <p:cNvPr id="27" name="Shape 25">
            <a:hlinkClick r:id="rId21" tooltip="🏁 Finish" action="ppaction://hlinksldjump"/>
          </p:cNvPr>
          <p:cNvSpPr/>
          <p:nvPr/>
        </p:nvSpPr>
        <p:spPr>
          <a:xfrm>
            <a:off x="6231636" y="4800600"/>
            <a:ext cx="2567178" cy="1234440"/>
          </a:xfrm>
          <a:prstGeom prst="roundRect">
            <a:avLst>
              <a:gd name="adj" fmla="val 10370"/>
            </a:avLst>
          </a:prstGeom>
          <a:solidFill>
            <a:srgbClr val="FCE9EA"/>
          </a:solidFill>
          <a:ln w="19050">
            <a:solidFill>
              <a:srgbClr val="DB001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>
            <a:hlinkClick r:id="rId22" tooltip="🏁 Finish" action="ppaction://hlinksldjump"/>
          </p:cNvPr>
          <p:cNvSpPr txBox="1"/>
          <p:nvPr/>
        </p:nvSpPr>
        <p:spPr>
          <a:xfrm>
            <a:off x="6231636" y="4800600"/>
            <a:ext cx="25671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2" action="ppaction://hlinksldjump" tooltip="🏁 Finish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🏁 Finish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79992" y="-2103120"/>
            <a:ext cx="4937760" cy="4937760"/>
          </a:xfrm>
          <a:prstGeom prst="ellipse">
            <a:avLst/>
          </a:prstGeom>
          <a:solidFill>
            <a:srgbClr val="DB0011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468880" y="4206240"/>
            <a:ext cx="4389120" cy="4389120"/>
          </a:xfrm>
          <a:prstGeom prst="ellipse">
            <a:avLst/>
          </a:prstGeom>
          <a:solidFill>
            <a:srgbClr val="1A1A1A">
              <a:alpha val="4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60152" y="320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HSBC</a:t>
            </a:r>
            <a:endParaRPr lang="en-US" sz="1400" dirty="0"/>
          </a:p>
        </p:txBody>
      </p:sp>
      <p:sp>
        <p:nvSpPr>
          <p:cNvPr id="5" name="Shape 3">
            <a:hlinkClick r:id="rId1" tooltip="Back to Menu" action="ppaction://hlinksldjump"/>
          </p:cNvPr>
          <p:cNvSpPr/>
          <p:nvPr/>
        </p:nvSpPr>
        <p:spPr>
          <a:xfrm>
            <a:off x="548640" y="292608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B0011"/>
            </a:solidFill>
            <a:prstDash val="solid"/>
          </a:ln>
        </p:spPr>
      </p:sp>
      <p:sp>
        <p:nvSpPr>
          <p:cNvPr id="6" name="Text 4">
            <a:hlinkClick r:id="rId2" tooltip="Back to Menu" action="ppaction://hlinksldjump"/>
          </p:cNvPr>
          <p:cNvSpPr txBox="1"/>
          <p:nvPr/>
        </p:nvSpPr>
        <p:spPr>
          <a:xfrm>
            <a:off x="548640" y="2926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Menu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6868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PLAY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11091672" cy="566928"/>
          </a:xfrm>
          <a:prstGeom prst="roundRect">
            <a:avLst>
              <a:gd name="adj" fmla="val 19355"/>
            </a:avLst>
          </a:prstGeom>
          <a:solidFill>
            <a:srgbClr val="FCE9E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6002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E0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Goal: help new grads learn George's journey — the fun way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11091672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3E3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478024"/>
            <a:ext cx="457200" cy="457200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2478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237744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Up  </a:t>
            </a:r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of 2–3 (flying solo also counts)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3182112"/>
            <a:ext cx="11091672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3E3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282696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182112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Drop  </a:t>
            </a:r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questions about George's journey, one at a time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3986784"/>
            <a:ext cx="11091672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3E3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087368"/>
            <a:ext cx="457200" cy="457200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3986784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the Clock  </a:t>
            </a:r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seconds to lock in your answer — paper or chat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48640" y="4791456"/>
            <a:ext cx="11091672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3E3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489204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463040" y="4791456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Time  </a:t>
            </a:r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point for every correct answer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548640" y="5596128"/>
            <a:ext cx="11091672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3E3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696712"/>
            <a:ext cx="457200" cy="457200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77240" y="5696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1463040" y="5596128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the Crown  </a:t>
            </a:r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Top-scoring squad takes home the chocolate 🍫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79992" y="-2103120"/>
            <a:ext cx="4937760" cy="4937760"/>
          </a:xfrm>
          <a:prstGeom prst="ellipse">
            <a:avLst/>
          </a:prstGeom>
          <a:solidFill>
            <a:srgbClr val="DB0011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468880" y="4206240"/>
            <a:ext cx="4389120" cy="4389120"/>
          </a:xfrm>
          <a:prstGeom prst="ellipse">
            <a:avLst/>
          </a:prstGeom>
          <a:solidFill>
            <a:srgbClr val="1A1A1A">
              <a:alpha val="4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60152" y="320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HSBC</a:t>
            </a:r>
            <a:endParaRPr lang="en-US" sz="1400" dirty="0"/>
          </a:p>
        </p:txBody>
      </p:sp>
      <p:sp>
        <p:nvSpPr>
          <p:cNvPr id="5" name="Shape 3">
            <a:hlinkClick r:id="rId1" tooltip="Back to Menu" action="ppaction://hlinksldjump"/>
          </p:cNvPr>
          <p:cNvSpPr/>
          <p:nvPr/>
        </p:nvSpPr>
        <p:spPr>
          <a:xfrm>
            <a:off x="548640" y="292608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B0011"/>
            </a:solidFill>
            <a:prstDash val="solid"/>
          </a:ln>
        </p:spPr>
      </p:sp>
      <p:sp>
        <p:nvSpPr>
          <p:cNvPr id="6" name="Text 4">
            <a:hlinkClick r:id="rId2" tooltip="Back to Menu" action="ppaction://hlinksldjump"/>
          </p:cNvPr>
          <p:cNvSpPr txBox="1"/>
          <p:nvPr/>
        </p:nvSpPr>
        <p:spPr>
          <a:xfrm>
            <a:off x="548640" y="2926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Menu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965960" y="384048"/>
            <a:ext cx="7589520" cy="146304"/>
          </a:xfrm>
          <a:prstGeom prst="roundRect">
            <a:avLst>
              <a:gd name="adj" fmla="val 50000"/>
            </a:avLst>
          </a:prstGeom>
          <a:solidFill>
            <a:srgbClr val="E3E3E7"/>
          </a:solidFill>
          <a:ln/>
        </p:spPr>
      </p:sp>
      <p:sp>
        <p:nvSpPr>
          <p:cNvPr id="8" name="Shape 6"/>
          <p:cNvSpPr/>
          <p:nvPr/>
        </p:nvSpPr>
        <p:spPr>
          <a:xfrm>
            <a:off x="1965960" y="384048"/>
            <a:ext cx="948690" cy="146304"/>
          </a:xfrm>
          <a:prstGeom prst="roundRect">
            <a:avLst>
              <a:gd name="adj" fmla="val 50000"/>
            </a:avLst>
          </a:prstGeom>
          <a:solidFill>
            <a:srgbClr val="DB001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738360" y="274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OF 8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868680"/>
            <a:ext cx="1005840" cy="1005840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868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8229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Days In, No Cap 💯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135331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9E0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90 days: how do you create impact fastest?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2331720"/>
            <a:ext cx="540867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B001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2880360"/>
            <a:ext cx="502920" cy="502920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36192" y="2441448"/>
            <a:ext cx="4165092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only on coding / output volume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31636" y="2331720"/>
            <a:ext cx="540867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87668" y="2880360"/>
            <a:ext cx="502920" cy="5029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87668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219188" y="2441448"/>
            <a:ext cx="4165092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context: product, risks, stakeholders, and how value is measured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187952"/>
            <a:ext cx="540867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B001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4736592"/>
            <a:ext cx="502920" cy="502920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4672" y="4736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536192" y="4297680"/>
            <a:ext cx="4165092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asking questions to look confident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31636" y="4187952"/>
            <a:ext cx="540867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87668" y="4736592"/>
            <a:ext cx="502920" cy="5029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87668" y="4736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219188" y="4297680"/>
            <a:ext cx="4165092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tasks; don't challenge requirements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79992" y="-2103120"/>
            <a:ext cx="4937760" cy="4937760"/>
          </a:xfrm>
          <a:prstGeom prst="ellipse">
            <a:avLst/>
          </a:prstGeom>
          <a:solidFill>
            <a:srgbClr val="DB0011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468880" y="4206240"/>
            <a:ext cx="4389120" cy="4389120"/>
          </a:xfrm>
          <a:prstGeom prst="ellipse">
            <a:avLst/>
          </a:prstGeom>
          <a:solidFill>
            <a:srgbClr val="1A1A1A">
              <a:alpha val="4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60152" y="320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HSBC</a:t>
            </a:r>
            <a:endParaRPr lang="en-US" sz="1400" dirty="0"/>
          </a:p>
        </p:txBody>
      </p:sp>
      <p:sp>
        <p:nvSpPr>
          <p:cNvPr id="5" name="Shape 3">
            <a:hlinkClick r:id="rId1" tooltip="Back to Menu" action="ppaction://hlinksldjump"/>
          </p:cNvPr>
          <p:cNvSpPr/>
          <p:nvPr/>
        </p:nvSpPr>
        <p:spPr>
          <a:xfrm>
            <a:off x="548640" y="292608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B0011"/>
            </a:solidFill>
            <a:prstDash val="solid"/>
          </a:ln>
        </p:spPr>
      </p:sp>
      <p:sp>
        <p:nvSpPr>
          <p:cNvPr id="6" name="Text 4">
            <a:hlinkClick r:id="rId2" tooltip="Back to Menu" action="ppaction://hlinksldjump"/>
          </p:cNvPr>
          <p:cNvSpPr txBox="1"/>
          <p:nvPr/>
        </p:nvSpPr>
        <p:spPr>
          <a:xfrm>
            <a:off x="548640" y="2926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Menu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965960" y="384048"/>
            <a:ext cx="7589520" cy="146304"/>
          </a:xfrm>
          <a:prstGeom prst="roundRect">
            <a:avLst>
              <a:gd name="adj" fmla="val 50000"/>
            </a:avLst>
          </a:prstGeom>
          <a:solidFill>
            <a:srgbClr val="E3E3E7"/>
          </a:solidFill>
          <a:ln/>
        </p:spPr>
      </p:sp>
      <p:sp>
        <p:nvSpPr>
          <p:cNvPr id="8" name="Shape 6"/>
          <p:cNvSpPr/>
          <p:nvPr/>
        </p:nvSpPr>
        <p:spPr>
          <a:xfrm>
            <a:off x="1965960" y="384048"/>
            <a:ext cx="1897380" cy="146304"/>
          </a:xfrm>
          <a:prstGeom prst="roundRect">
            <a:avLst>
              <a:gd name="adj" fmla="val 50000"/>
            </a:avLst>
          </a:prstGeom>
          <a:solidFill>
            <a:srgbClr val="DB001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738360" y="274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OF 8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868680"/>
            <a:ext cx="1005840" cy="1005840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868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8229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Regulated Bank, Full Send? ⚡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135331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9E0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regulated bank, what's the right mindset for speed?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2331720"/>
            <a:ext cx="540867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B001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2880360"/>
            <a:ext cx="502920" cy="502920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36192" y="2441448"/>
            <a:ext cx="4165092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fast and fix later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31636" y="2331720"/>
            <a:ext cx="540867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87668" y="2880360"/>
            <a:ext cx="502920" cy="5029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87668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219188" y="2441448"/>
            <a:ext cx="4165092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fast with controls and transparency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187952"/>
            <a:ext cx="540867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B001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4736592"/>
            <a:ext cx="502920" cy="502920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4672" y="4736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536192" y="4297680"/>
            <a:ext cx="4165092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change to reduce risk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31636" y="4187952"/>
            <a:ext cx="540867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87668" y="4736592"/>
            <a:ext cx="502920" cy="5029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87668" y="4736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219188" y="4297680"/>
            <a:ext cx="4165092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risk to governance teams only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79992" y="-2103120"/>
            <a:ext cx="4937760" cy="4937760"/>
          </a:xfrm>
          <a:prstGeom prst="ellipse">
            <a:avLst/>
          </a:prstGeom>
          <a:solidFill>
            <a:srgbClr val="DB0011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468880" y="4206240"/>
            <a:ext cx="4389120" cy="4389120"/>
          </a:xfrm>
          <a:prstGeom prst="ellipse">
            <a:avLst/>
          </a:prstGeom>
          <a:solidFill>
            <a:srgbClr val="1A1A1A">
              <a:alpha val="4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60152" y="320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HSBC</a:t>
            </a:r>
            <a:endParaRPr lang="en-US" sz="1400" dirty="0"/>
          </a:p>
        </p:txBody>
      </p:sp>
      <p:sp>
        <p:nvSpPr>
          <p:cNvPr id="5" name="Shape 3">
            <a:hlinkClick r:id="rId1" tooltip="Back to Menu" action="ppaction://hlinksldjump"/>
          </p:cNvPr>
          <p:cNvSpPr/>
          <p:nvPr/>
        </p:nvSpPr>
        <p:spPr>
          <a:xfrm>
            <a:off x="548640" y="292608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B0011"/>
            </a:solidFill>
            <a:prstDash val="solid"/>
          </a:ln>
        </p:spPr>
      </p:sp>
      <p:sp>
        <p:nvSpPr>
          <p:cNvPr id="6" name="Text 4">
            <a:hlinkClick r:id="rId2" tooltip="Back to Menu" action="ppaction://hlinksldjump"/>
          </p:cNvPr>
          <p:cNvSpPr txBox="1"/>
          <p:nvPr/>
        </p:nvSpPr>
        <p:spPr>
          <a:xfrm>
            <a:off x="548640" y="2926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Menu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965960" y="384048"/>
            <a:ext cx="7589520" cy="146304"/>
          </a:xfrm>
          <a:prstGeom prst="roundRect">
            <a:avLst>
              <a:gd name="adj" fmla="val 50000"/>
            </a:avLst>
          </a:prstGeom>
          <a:solidFill>
            <a:srgbClr val="E3E3E7"/>
          </a:solidFill>
          <a:ln/>
        </p:spPr>
      </p:sp>
      <p:sp>
        <p:nvSpPr>
          <p:cNvPr id="8" name="Shape 6"/>
          <p:cNvSpPr/>
          <p:nvPr/>
        </p:nvSpPr>
        <p:spPr>
          <a:xfrm>
            <a:off x="1965960" y="384048"/>
            <a:ext cx="2846070" cy="146304"/>
          </a:xfrm>
          <a:prstGeom prst="roundRect">
            <a:avLst>
              <a:gd name="adj" fmla="val 50000"/>
            </a:avLst>
          </a:prstGeom>
          <a:solidFill>
            <a:srgbClr val="DB001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738360" y="274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OF 8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868680"/>
            <a:ext cx="1005840" cy="1005840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868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8229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Energy 🔥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135331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9E0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strongest 'ownership' behaviour for grads?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2331720"/>
            <a:ext cx="540867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B001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2880360"/>
            <a:ext cx="502920" cy="502920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36192" y="2441448"/>
            <a:ext cx="4165092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tasks exactly as told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31636" y="2331720"/>
            <a:ext cx="540867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87668" y="2880360"/>
            <a:ext cx="502920" cy="5029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87668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219188" y="2441448"/>
            <a:ext cx="4165092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Escalating every issue immediately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187952"/>
            <a:ext cx="540867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B001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4736592"/>
            <a:ext cx="502920" cy="502920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4672" y="4736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536192" y="4297680"/>
            <a:ext cx="4165092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options + recommendation + trade-offs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31636" y="4187952"/>
            <a:ext cx="540867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87668" y="4736592"/>
            <a:ext cx="502920" cy="5029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87668" y="4736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219188" y="4297680"/>
            <a:ext cx="4165092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alone to finish faster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79992" y="-2103120"/>
            <a:ext cx="4937760" cy="4937760"/>
          </a:xfrm>
          <a:prstGeom prst="ellipse">
            <a:avLst/>
          </a:prstGeom>
          <a:solidFill>
            <a:srgbClr val="DB0011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468880" y="4206240"/>
            <a:ext cx="4389120" cy="4389120"/>
          </a:xfrm>
          <a:prstGeom prst="ellipse">
            <a:avLst/>
          </a:prstGeom>
          <a:solidFill>
            <a:srgbClr val="1A1A1A">
              <a:alpha val="4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60152" y="320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HSBC</a:t>
            </a:r>
            <a:endParaRPr lang="en-US" sz="1400" dirty="0"/>
          </a:p>
        </p:txBody>
      </p:sp>
      <p:sp>
        <p:nvSpPr>
          <p:cNvPr id="5" name="Shape 3">
            <a:hlinkClick r:id="rId1" tooltip="Back to Menu" action="ppaction://hlinksldjump"/>
          </p:cNvPr>
          <p:cNvSpPr/>
          <p:nvPr/>
        </p:nvSpPr>
        <p:spPr>
          <a:xfrm>
            <a:off x="548640" y="292608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B0011"/>
            </a:solidFill>
            <a:prstDash val="solid"/>
          </a:ln>
        </p:spPr>
      </p:sp>
      <p:sp>
        <p:nvSpPr>
          <p:cNvPr id="6" name="Text 4">
            <a:hlinkClick r:id="rId2" tooltip="Back to Menu" action="ppaction://hlinksldjump"/>
          </p:cNvPr>
          <p:cNvSpPr txBox="1"/>
          <p:nvPr/>
        </p:nvSpPr>
        <p:spPr>
          <a:xfrm>
            <a:off x="548640" y="2926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Menu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965960" y="384048"/>
            <a:ext cx="7589520" cy="146304"/>
          </a:xfrm>
          <a:prstGeom prst="roundRect">
            <a:avLst>
              <a:gd name="adj" fmla="val 50000"/>
            </a:avLst>
          </a:prstGeom>
          <a:solidFill>
            <a:srgbClr val="E3E3E7"/>
          </a:solidFill>
          <a:ln/>
        </p:spPr>
      </p:sp>
      <p:sp>
        <p:nvSpPr>
          <p:cNvPr id="8" name="Shape 6"/>
          <p:cNvSpPr/>
          <p:nvPr/>
        </p:nvSpPr>
        <p:spPr>
          <a:xfrm>
            <a:off x="1965960" y="384048"/>
            <a:ext cx="3794760" cy="146304"/>
          </a:xfrm>
          <a:prstGeom prst="roundRect">
            <a:avLst>
              <a:gd name="adj" fmla="val 50000"/>
            </a:avLst>
          </a:prstGeom>
          <a:solidFill>
            <a:srgbClr val="DB001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738360" y="274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OF 8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868680"/>
            <a:ext cx="1005840" cy="1005840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868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8229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 Twist Mid-Sprint 🌀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135331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9E0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priorities change mid-sprint, what's best?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2331720"/>
            <a:ext cx="540867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B001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2880360"/>
            <a:ext cx="502920" cy="502920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36192" y="2441448"/>
            <a:ext cx="4165092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original plan; change is bad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31636" y="2331720"/>
            <a:ext cx="540867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87668" y="2880360"/>
            <a:ext cx="502920" cy="5029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87668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219188" y="2441448"/>
            <a:ext cx="4165092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and wait for instructions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187952"/>
            <a:ext cx="540867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B001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4736592"/>
            <a:ext cx="502920" cy="502920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4672" y="4736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536192" y="4297680"/>
            <a:ext cx="4165092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Reconfirm outcomes, dependencies, and re-plan visibly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31636" y="4187952"/>
            <a:ext cx="540867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87668" y="4736592"/>
            <a:ext cx="502920" cy="5029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87668" y="4736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219188" y="4297680"/>
            <a:ext cx="4165092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back on all changes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79992" y="-2103120"/>
            <a:ext cx="4937760" cy="4937760"/>
          </a:xfrm>
          <a:prstGeom prst="ellipse">
            <a:avLst/>
          </a:prstGeom>
          <a:solidFill>
            <a:srgbClr val="DB0011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468880" y="4206240"/>
            <a:ext cx="4389120" cy="4389120"/>
          </a:xfrm>
          <a:prstGeom prst="ellipse">
            <a:avLst/>
          </a:prstGeom>
          <a:solidFill>
            <a:srgbClr val="1A1A1A">
              <a:alpha val="4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60152" y="320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HSBC</a:t>
            </a:r>
            <a:endParaRPr lang="en-US" sz="1400" dirty="0"/>
          </a:p>
        </p:txBody>
      </p:sp>
      <p:sp>
        <p:nvSpPr>
          <p:cNvPr id="5" name="Shape 3">
            <a:hlinkClick r:id="rId1" tooltip="Back to Menu" action="ppaction://hlinksldjump"/>
          </p:cNvPr>
          <p:cNvSpPr/>
          <p:nvPr/>
        </p:nvSpPr>
        <p:spPr>
          <a:xfrm>
            <a:off x="548640" y="292608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B0011"/>
            </a:solidFill>
            <a:prstDash val="solid"/>
          </a:ln>
        </p:spPr>
      </p:sp>
      <p:sp>
        <p:nvSpPr>
          <p:cNvPr id="6" name="Text 4">
            <a:hlinkClick r:id="rId2" tooltip="Back to Menu" action="ppaction://hlinksldjump"/>
          </p:cNvPr>
          <p:cNvSpPr txBox="1"/>
          <p:nvPr/>
        </p:nvSpPr>
        <p:spPr>
          <a:xfrm>
            <a:off x="548640" y="2926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Menu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965960" y="384048"/>
            <a:ext cx="7589520" cy="146304"/>
          </a:xfrm>
          <a:prstGeom prst="roundRect">
            <a:avLst>
              <a:gd name="adj" fmla="val 50000"/>
            </a:avLst>
          </a:prstGeom>
          <a:solidFill>
            <a:srgbClr val="E3E3E7"/>
          </a:solidFill>
          <a:ln/>
        </p:spPr>
      </p:sp>
      <p:sp>
        <p:nvSpPr>
          <p:cNvPr id="8" name="Shape 6"/>
          <p:cNvSpPr/>
          <p:nvPr/>
        </p:nvSpPr>
        <p:spPr>
          <a:xfrm>
            <a:off x="1965960" y="384048"/>
            <a:ext cx="4743450" cy="146304"/>
          </a:xfrm>
          <a:prstGeom prst="roundRect">
            <a:avLst>
              <a:gd name="adj" fmla="val 50000"/>
            </a:avLst>
          </a:prstGeom>
          <a:solidFill>
            <a:srgbClr val="DB001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738360" y="274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OF 8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868680"/>
            <a:ext cx="1005840" cy="1005840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868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8229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Unlock 🔓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135331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9E0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most valuable skill to build early in SSV Tech?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2331720"/>
            <a:ext cx="540867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B001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2880360"/>
            <a:ext cx="502920" cy="502920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36192" y="2441448"/>
            <a:ext cx="4165092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Memorising internal acronyms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31636" y="2331720"/>
            <a:ext cx="540867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87668" y="2880360"/>
            <a:ext cx="502920" cy="5029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87668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219188" y="2441448"/>
            <a:ext cx="4165092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communication + clear status + risk thinking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187952"/>
            <a:ext cx="540867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B001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4736592"/>
            <a:ext cx="502920" cy="502920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4672" y="4736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536192" y="4297680"/>
            <a:ext cx="4165092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meetings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31636" y="4187952"/>
            <a:ext cx="540867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87668" y="4736592"/>
            <a:ext cx="502920" cy="5029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87668" y="4736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219188" y="4297680"/>
            <a:ext cx="4165092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deep technical specialisation from day one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79992" y="-2103120"/>
            <a:ext cx="4937760" cy="4937760"/>
          </a:xfrm>
          <a:prstGeom prst="ellipse">
            <a:avLst/>
          </a:prstGeom>
          <a:solidFill>
            <a:srgbClr val="DB0011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468880" y="4206240"/>
            <a:ext cx="4389120" cy="4389120"/>
          </a:xfrm>
          <a:prstGeom prst="ellipse">
            <a:avLst/>
          </a:prstGeom>
          <a:solidFill>
            <a:srgbClr val="1A1A1A">
              <a:alpha val="4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60152" y="320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HSBC</a:t>
            </a:r>
            <a:endParaRPr lang="en-US" sz="1400" dirty="0"/>
          </a:p>
        </p:txBody>
      </p:sp>
      <p:sp>
        <p:nvSpPr>
          <p:cNvPr id="5" name="Shape 3">
            <a:hlinkClick r:id="rId1" tooltip="Back to Menu" action="ppaction://hlinksldjump"/>
          </p:cNvPr>
          <p:cNvSpPr/>
          <p:nvPr/>
        </p:nvSpPr>
        <p:spPr>
          <a:xfrm>
            <a:off x="548640" y="292608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B0011"/>
            </a:solidFill>
            <a:prstDash val="solid"/>
          </a:ln>
        </p:spPr>
      </p:sp>
      <p:sp>
        <p:nvSpPr>
          <p:cNvPr id="6" name="Text 4">
            <a:hlinkClick r:id="rId2" tooltip="Back to Menu" action="ppaction://hlinksldjump"/>
          </p:cNvPr>
          <p:cNvSpPr txBox="1"/>
          <p:nvPr/>
        </p:nvSpPr>
        <p:spPr>
          <a:xfrm>
            <a:off x="548640" y="2926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Menu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965960" y="384048"/>
            <a:ext cx="7589520" cy="146304"/>
          </a:xfrm>
          <a:prstGeom prst="roundRect">
            <a:avLst>
              <a:gd name="adj" fmla="val 50000"/>
            </a:avLst>
          </a:prstGeom>
          <a:solidFill>
            <a:srgbClr val="E3E3E7"/>
          </a:solidFill>
          <a:ln/>
        </p:spPr>
      </p:sp>
      <p:sp>
        <p:nvSpPr>
          <p:cNvPr id="8" name="Shape 6"/>
          <p:cNvSpPr/>
          <p:nvPr/>
        </p:nvSpPr>
        <p:spPr>
          <a:xfrm>
            <a:off x="1965960" y="384048"/>
            <a:ext cx="5692140" cy="146304"/>
          </a:xfrm>
          <a:prstGeom prst="roundRect">
            <a:avLst>
              <a:gd name="adj" fmla="val 50000"/>
            </a:avLst>
          </a:prstGeom>
          <a:solidFill>
            <a:srgbClr val="DB001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738360" y="274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 OF 8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868680"/>
            <a:ext cx="1005840" cy="1005840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868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8229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Check ✅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135331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9E0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in banking: what must be true?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2331720"/>
            <a:ext cx="540867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B001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2880360"/>
            <a:ext cx="502920" cy="502920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36192" y="2441448"/>
            <a:ext cx="4165092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data can be used if the output is good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31636" y="2331720"/>
            <a:ext cx="540867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87668" y="2880360"/>
            <a:ext cx="502920" cy="5029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87668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219188" y="2441448"/>
            <a:ext cx="4165092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public tools freely for productivity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187952"/>
            <a:ext cx="540867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B001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4736592"/>
            <a:ext cx="502920" cy="502920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4672" y="4736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536192" y="4297680"/>
            <a:ext cx="4165092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classification, security controls, and model governance are non-negotiable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31636" y="4187952"/>
            <a:ext cx="540867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87668" y="4736592"/>
            <a:ext cx="502920" cy="5029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87668" y="4736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219188" y="4297680"/>
            <a:ext cx="4165092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mainly for demos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79992" y="-2103120"/>
            <a:ext cx="4937760" cy="4937760"/>
          </a:xfrm>
          <a:prstGeom prst="ellipse">
            <a:avLst/>
          </a:prstGeom>
          <a:solidFill>
            <a:srgbClr val="DB0011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468880" y="4206240"/>
            <a:ext cx="4389120" cy="4389120"/>
          </a:xfrm>
          <a:prstGeom prst="ellipse">
            <a:avLst/>
          </a:prstGeom>
          <a:solidFill>
            <a:srgbClr val="1A1A1A">
              <a:alpha val="4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60152" y="320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HSBC</a:t>
            </a:r>
            <a:endParaRPr lang="en-US" sz="1400" dirty="0"/>
          </a:p>
        </p:txBody>
      </p:sp>
      <p:sp>
        <p:nvSpPr>
          <p:cNvPr id="5" name="Shape 3">
            <a:hlinkClick r:id="rId1" tooltip="Back to Menu" action="ppaction://hlinksldjump"/>
          </p:cNvPr>
          <p:cNvSpPr/>
          <p:nvPr/>
        </p:nvSpPr>
        <p:spPr>
          <a:xfrm>
            <a:off x="548640" y="292608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B0011"/>
            </a:solidFill>
            <a:prstDash val="solid"/>
          </a:ln>
        </p:spPr>
      </p:sp>
      <p:sp>
        <p:nvSpPr>
          <p:cNvPr id="6" name="Text 4">
            <a:hlinkClick r:id="rId2" tooltip="Back to Menu" action="ppaction://hlinksldjump"/>
          </p:cNvPr>
          <p:cNvSpPr txBox="1"/>
          <p:nvPr/>
        </p:nvSpPr>
        <p:spPr>
          <a:xfrm>
            <a:off x="548640" y="2926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Menu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965960" y="384048"/>
            <a:ext cx="7589520" cy="146304"/>
          </a:xfrm>
          <a:prstGeom prst="roundRect">
            <a:avLst>
              <a:gd name="adj" fmla="val 50000"/>
            </a:avLst>
          </a:prstGeom>
          <a:solidFill>
            <a:srgbClr val="E3E3E7"/>
          </a:solidFill>
          <a:ln/>
        </p:spPr>
      </p:sp>
      <p:sp>
        <p:nvSpPr>
          <p:cNvPr id="8" name="Shape 6"/>
          <p:cNvSpPr/>
          <p:nvPr/>
        </p:nvSpPr>
        <p:spPr>
          <a:xfrm>
            <a:off x="1965960" y="384048"/>
            <a:ext cx="6640830" cy="146304"/>
          </a:xfrm>
          <a:prstGeom prst="roundRect">
            <a:avLst>
              <a:gd name="adj" fmla="val 50000"/>
            </a:avLst>
          </a:prstGeom>
          <a:solidFill>
            <a:srgbClr val="DB001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738360" y="274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 OF 8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868680"/>
            <a:ext cx="1005840" cy="1005840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868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8229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Leader Energy 👑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135331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9E0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way to engage senior leaders?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2331720"/>
            <a:ext cx="540867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B001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2880360"/>
            <a:ext cx="502920" cy="502920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36192" y="2441448"/>
            <a:ext cx="4165092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career advice every week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31636" y="2331720"/>
            <a:ext cx="540867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87668" y="2880360"/>
            <a:ext cx="502920" cy="5029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87668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219188" y="2441448"/>
            <a:ext cx="4165092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a crisp question tied to outcomes and what you've tried already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187952"/>
            <a:ext cx="540867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B001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4736592"/>
            <a:ext cx="502920" cy="502920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4672" y="4736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536192" y="4297680"/>
            <a:ext cx="4165092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speak when spoken to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31636" y="4187952"/>
            <a:ext cx="540867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87668" y="4736592"/>
            <a:ext cx="502920" cy="5029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87668" y="4736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219188" y="4297680"/>
            <a:ext cx="4165092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long detailed background before the question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79992" y="-2103120"/>
            <a:ext cx="4937760" cy="4937760"/>
          </a:xfrm>
          <a:prstGeom prst="ellipse">
            <a:avLst/>
          </a:prstGeom>
          <a:solidFill>
            <a:srgbClr val="DB0011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468880" y="4206240"/>
            <a:ext cx="4389120" cy="4389120"/>
          </a:xfrm>
          <a:prstGeom prst="ellipse">
            <a:avLst/>
          </a:prstGeom>
          <a:solidFill>
            <a:srgbClr val="1A1A1A">
              <a:alpha val="4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60152" y="320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HSBC</a:t>
            </a:r>
            <a:endParaRPr lang="en-US" sz="1400" dirty="0"/>
          </a:p>
        </p:txBody>
      </p:sp>
      <p:sp>
        <p:nvSpPr>
          <p:cNvPr id="5" name="Shape 3">
            <a:hlinkClick r:id="rId1" tooltip="Back to Menu" action="ppaction://hlinksldjump"/>
          </p:cNvPr>
          <p:cNvSpPr/>
          <p:nvPr/>
        </p:nvSpPr>
        <p:spPr>
          <a:xfrm>
            <a:off x="548640" y="292608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B0011"/>
            </a:solidFill>
            <a:prstDash val="solid"/>
          </a:ln>
        </p:spPr>
      </p:sp>
      <p:sp>
        <p:nvSpPr>
          <p:cNvPr id="6" name="Text 4">
            <a:hlinkClick r:id="rId2" tooltip="Back to Menu" action="ppaction://hlinksldjump"/>
          </p:cNvPr>
          <p:cNvSpPr txBox="1"/>
          <p:nvPr/>
        </p:nvSpPr>
        <p:spPr>
          <a:xfrm>
            <a:off x="548640" y="2926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Menu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965960" y="384048"/>
            <a:ext cx="7589520" cy="146304"/>
          </a:xfrm>
          <a:prstGeom prst="roundRect">
            <a:avLst>
              <a:gd name="adj" fmla="val 50000"/>
            </a:avLst>
          </a:prstGeom>
          <a:solidFill>
            <a:srgbClr val="E3E3E7"/>
          </a:solidFill>
          <a:ln/>
        </p:spPr>
      </p:sp>
      <p:sp>
        <p:nvSpPr>
          <p:cNvPr id="8" name="Shape 6"/>
          <p:cNvSpPr/>
          <p:nvPr/>
        </p:nvSpPr>
        <p:spPr>
          <a:xfrm>
            <a:off x="1965960" y="384048"/>
            <a:ext cx="7589520" cy="146304"/>
          </a:xfrm>
          <a:prstGeom prst="roundRect">
            <a:avLst>
              <a:gd name="adj" fmla="val 50000"/>
            </a:avLst>
          </a:prstGeom>
          <a:solidFill>
            <a:srgbClr val="DB001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738360" y="274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 OF 8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868680"/>
            <a:ext cx="1005840" cy="1005840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868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8229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Culture Vibes ✨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135331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9E0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Culture: what scales delivery best?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2331720"/>
            <a:ext cx="540867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B001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2880360"/>
            <a:ext cx="502920" cy="502920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36192" y="2441448"/>
            <a:ext cx="4165092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culture (one person saves the day)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31636" y="2331720"/>
            <a:ext cx="540867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87668" y="2880360"/>
            <a:ext cx="502920" cy="5029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87668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219188" y="2441448"/>
            <a:ext cx="4165092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Blameless learning + clear accountability + strong engineering discipline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187952"/>
            <a:ext cx="540867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B001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4736592"/>
            <a:ext cx="502920" cy="502920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4672" y="4736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536192" y="4297680"/>
            <a:ext cx="4165092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tough conversations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31636" y="4187952"/>
            <a:ext cx="5408676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87668" y="4736592"/>
            <a:ext cx="502920" cy="5029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87668" y="4736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219188" y="4297680"/>
            <a:ext cx="4165092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in silos to reduce noise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79992" y="-2103120"/>
            <a:ext cx="4937760" cy="4937760"/>
          </a:xfrm>
          <a:prstGeom prst="ellipse">
            <a:avLst/>
          </a:prstGeom>
          <a:solidFill>
            <a:srgbClr val="DB0011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468880" y="4206240"/>
            <a:ext cx="4389120" cy="4389120"/>
          </a:xfrm>
          <a:prstGeom prst="ellipse">
            <a:avLst/>
          </a:prstGeom>
          <a:solidFill>
            <a:srgbClr val="1A1A1A">
              <a:alpha val="4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60152" y="320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HSBC</a:t>
            </a:r>
            <a:endParaRPr lang="en-US" sz="1400" dirty="0"/>
          </a:p>
        </p:txBody>
      </p:sp>
      <p:sp>
        <p:nvSpPr>
          <p:cNvPr id="5" name="Shape 3">
            <a:hlinkClick r:id="rId1" tooltip="Back to Menu" action="ppaction://hlinksldjump"/>
          </p:cNvPr>
          <p:cNvSpPr/>
          <p:nvPr/>
        </p:nvSpPr>
        <p:spPr>
          <a:xfrm>
            <a:off x="548640" y="292608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B0011"/>
            </a:solidFill>
            <a:prstDash val="solid"/>
          </a:ln>
        </p:spPr>
      </p:sp>
      <p:sp>
        <p:nvSpPr>
          <p:cNvPr id="6" name="Text 4">
            <a:hlinkClick r:id="rId2" tooltip="Back to Menu" action="ppaction://hlinksldjump"/>
          </p:cNvPr>
          <p:cNvSpPr txBox="1"/>
          <p:nvPr/>
        </p:nvSpPr>
        <p:spPr>
          <a:xfrm>
            <a:off x="548640" y="2926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Menu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686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RUN OF SHOW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087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~27 minutes, zero cap ⏱️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2532888" cy="3017520"/>
          </a:xfrm>
          <a:prstGeom prst="roundRect">
            <a:avLst>
              <a:gd name="adj" fmla="val 5776"/>
            </a:avLst>
          </a:prstGeom>
          <a:solidFill>
            <a:srgbClr val="FFFFFF"/>
          </a:solidFill>
          <a:ln w="12700">
            <a:solidFill>
              <a:srgbClr val="E3E3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48640" y="2651760"/>
            <a:ext cx="2532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749040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251960"/>
            <a:ext cx="2258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3401568" y="2377440"/>
            <a:ext cx="2532888" cy="3017520"/>
          </a:xfrm>
          <a:prstGeom prst="roundRect">
            <a:avLst>
              <a:gd name="adj" fmla="val 5776"/>
            </a:avLst>
          </a:prstGeom>
          <a:solidFill>
            <a:srgbClr val="FFFFFF"/>
          </a:solidFill>
          <a:ln w="12700">
            <a:solidFill>
              <a:srgbClr val="E3E3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401568" y="2651760"/>
            <a:ext cx="2532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3401568" y="3749040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538728" y="4251960"/>
            <a:ext cx="2258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254496" y="2377440"/>
            <a:ext cx="2532888" cy="3017520"/>
          </a:xfrm>
          <a:prstGeom prst="roundRect">
            <a:avLst>
              <a:gd name="adj" fmla="val 5776"/>
            </a:avLst>
          </a:prstGeom>
          <a:solidFill>
            <a:srgbClr val="FFFFFF"/>
          </a:solidFill>
          <a:ln w="12700">
            <a:solidFill>
              <a:srgbClr val="E3E3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254496" y="2651760"/>
            <a:ext cx="2532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5400" dirty="0"/>
          </a:p>
        </p:txBody>
      </p:sp>
      <p:sp>
        <p:nvSpPr>
          <p:cNvPr id="19" name="Text 17"/>
          <p:cNvSpPr txBox="1"/>
          <p:nvPr/>
        </p:nvSpPr>
        <p:spPr>
          <a:xfrm>
            <a:off x="6254496" y="3749040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391656" y="4251960"/>
            <a:ext cx="2258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9107424" y="2377440"/>
            <a:ext cx="2532888" cy="3017520"/>
          </a:xfrm>
          <a:prstGeom prst="roundRect">
            <a:avLst>
              <a:gd name="adj" fmla="val 5776"/>
            </a:avLst>
          </a:prstGeom>
          <a:solidFill>
            <a:srgbClr val="FFFFFF"/>
          </a:solidFill>
          <a:ln w="12700">
            <a:solidFill>
              <a:srgbClr val="E3E3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107424" y="2651760"/>
            <a:ext cx="2532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400" dirty="0"/>
          </a:p>
        </p:txBody>
      </p:sp>
      <p:sp>
        <p:nvSpPr>
          <p:cNvPr id="23" name="Text 21"/>
          <p:cNvSpPr txBox="1"/>
          <p:nvPr/>
        </p:nvSpPr>
        <p:spPr>
          <a:xfrm>
            <a:off x="9107424" y="3749040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9244584" y="4251960"/>
            <a:ext cx="2258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79992" y="-2103120"/>
            <a:ext cx="4937760" cy="4937760"/>
          </a:xfrm>
          <a:prstGeom prst="ellipse">
            <a:avLst/>
          </a:prstGeom>
          <a:solidFill>
            <a:srgbClr val="DB0011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468880" y="4206240"/>
            <a:ext cx="4389120" cy="4389120"/>
          </a:xfrm>
          <a:prstGeom prst="ellipse">
            <a:avLst/>
          </a:prstGeom>
          <a:solidFill>
            <a:srgbClr val="1A1A1A">
              <a:alpha val="4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360152" y="320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HSBC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0" y="1874520"/>
            <a:ext cx="1218895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FIND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LEADER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0" y="397764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E0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the smartest squad win 🏆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0" y="45262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you, George — and welcome, new grads 💜</a:t>
            </a:r>
            <a:endParaRPr lang="en-US" sz="1400" dirty="0"/>
          </a:p>
        </p:txBody>
      </p:sp>
      <p:sp>
        <p:nvSpPr>
          <p:cNvPr id="8" name="Shape 6">
            <a:hlinkClick r:id="rId1" tooltip="Back to Menu" action="ppaction://hlinksldjump"/>
          </p:cNvPr>
          <p:cNvSpPr/>
          <p:nvPr/>
        </p:nvSpPr>
        <p:spPr>
          <a:xfrm>
            <a:off x="4905756" y="5303520"/>
            <a:ext cx="2377440" cy="502920"/>
          </a:xfrm>
          <a:prstGeom prst="roundRect">
            <a:avLst>
              <a:gd name="adj" fmla="val 50000"/>
            </a:avLst>
          </a:prstGeom>
          <a:solidFill>
            <a:srgbClr val="DB0011"/>
          </a:solidFill>
          <a:ln/>
        </p:spPr>
      </p:sp>
      <p:sp>
        <p:nvSpPr>
          <p:cNvPr id="9" name="Text 7">
            <a:hlinkClick r:id="rId2" tooltip="Back to Menu" action="ppaction://hlinksldjump"/>
          </p:cNvPr>
          <p:cNvSpPr txBox="1"/>
          <p:nvPr/>
        </p:nvSpPr>
        <p:spPr>
          <a:xfrm>
            <a:off x="4905756" y="5303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🏠 Back to Menu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2026-09-09T18:50:36Z</dcterms:created>
  <dcterms:modified xsi:type="dcterms:W3CDTF">2026-09-09T18:50:36Z</dcterms:modified>
</cp:coreProperties>
</file>